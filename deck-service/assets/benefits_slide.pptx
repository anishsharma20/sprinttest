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DF5A068A-369B-EF24-C749-B52F7E03C9D5}"/>
              </a:ext>
            </a:extLst>
          </p:cNvPr>
          <p:cNvSpPr txBox="1"/>
          <p:nvPr/>
        </p:nvSpPr>
        <p:spPr>
          <a:xfrm>
            <a:off x="365918" y="434923"/>
            <a:ext cx="29783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>
                <a:ln>
                  <a:noFill/>
                </a:ln>
                <a:solidFill>
                  <a:srgbClr val="E50A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Multiple, proven health benefits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E2B140-DFDA-2BA5-E59A-081FB67BE1E1}"/>
              </a:ext>
            </a:extLst>
          </p:cNvPr>
          <p:cNvSpPr txBox="1">
            <a:spLocks/>
          </p:cNvSpPr>
          <p:nvPr/>
        </p:nvSpPr>
        <p:spPr>
          <a:xfrm>
            <a:off x="549637" y="1874806"/>
            <a:ext cx="1685977" cy="13472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u="none" kern="1200" cap="none" baseline="0">
                <a:solidFill>
                  <a:schemeClr val="tx1"/>
                </a:solidFill>
                <a:latin typeface="+mj-lt"/>
                <a:ea typeface="Trebuchet MS" charset="0"/>
                <a:cs typeface="Trebuchet MS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>
                <a:ln>
                  <a:noFill/>
                </a:ln>
                <a:solidFill>
                  <a:srgbClr val="E50A1A"/>
                </a:solidFill>
                <a:effectLst/>
                <a:uLnTx/>
                <a:uFillTx/>
                <a:latin typeface="Exo 2 italic"/>
              </a:rPr>
              <a:t>50+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50A1A"/>
                </a:solidFill>
                <a:effectLst/>
                <a:uLnTx/>
                <a:uFillTx/>
                <a:latin typeface="Exo 2 italic"/>
              </a:rPr>
              <a:t>Human Clinical Trials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164F2-686D-4C6A-843C-041C4C2D3F1C}"/>
              </a:ext>
            </a:extLst>
          </p:cNvPr>
          <p:cNvSpPr txBox="1"/>
          <p:nvPr/>
        </p:nvSpPr>
        <p:spPr>
          <a:xfrm>
            <a:off x="365918" y="3411226"/>
            <a:ext cx="1869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50A1A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135+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50A1A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Total Studies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324C16-1DBF-98E6-335D-D5B26F9227AB}"/>
              </a:ext>
            </a:extLst>
          </p:cNvPr>
          <p:cNvCxnSpPr/>
          <p:nvPr/>
        </p:nvCxnSpPr>
        <p:spPr>
          <a:xfrm>
            <a:off x="549637" y="3297884"/>
            <a:ext cx="160712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orange&#10;&#10;Description automatically generated">
            <a:extLst>
              <a:ext uri="{FF2B5EF4-FFF2-40B4-BE49-F238E27FC236}">
                <a16:creationId xmlns:a16="http://schemas.microsoft.com/office/drawing/2014/main" id="{852392D7-A389-3B36-A8AF-048B38F38A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5" t="19786" r="10752" b="34496"/>
          <a:stretch/>
        </p:blipFill>
        <p:spPr>
          <a:xfrm>
            <a:off x="2989847" y="4316768"/>
            <a:ext cx="5002838" cy="20865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B3CBE3-0558-CA17-A5ED-872B014FC7BA}"/>
              </a:ext>
            </a:extLst>
          </p:cNvPr>
          <p:cNvSpPr txBox="1"/>
          <p:nvPr/>
        </p:nvSpPr>
        <p:spPr>
          <a:xfrm>
            <a:off x="214309" y="6579907"/>
            <a:ext cx="10179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163536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The above-mentioned bullet-points should not be interpreted as health claims. All prospective health claims should be checked by the customer for regulatory compliance </a:t>
            </a:r>
            <a:endParaRPr kumimoji="0" lang="nb-NO" sz="1050" b="0" i="1" u="none" strike="noStrike" kern="1200" cap="none" spc="0" normalizeH="0" baseline="0" noProof="0">
              <a:ln>
                <a:noFill/>
              </a:ln>
              <a:solidFill>
                <a:srgbClr val="163536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E33A5E-22C1-E629-1544-5634E1627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-195943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
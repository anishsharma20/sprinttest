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hyperlink" Target="https://www.cdc.gov/nchs/products/databriefs/db321.htm" TargetMode="External"/><Relationship Id="rId7" Type="http://schemas.openxmlformats.org/officeDocument/2006/relationships/hyperlink" Target="https://pubmed.ncbi.nlm.nih.gov/26886842/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 blue and white gradient&#10;&#10;Description automatically generated">
            <a:extLst>
              <a:ext uri="{FF2B5EF4-FFF2-40B4-BE49-F238E27FC236}">
                <a16:creationId xmlns:a16="http://schemas.microsoft.com/office/drawing/2014/main" id="{3F582204-DDA3-CE6F-CDB7-67CD176FBA8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13972" y="0"/>
            <a:ext cx="12192000" cy="6876816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46F1FAE2-3A46-9D20-7A01-1ED14FF9B785}"/>
              </a:ext>
            </a:extLst>
          </p:cNvPr>
          <p:cNvSpPr txBox="1"/>
          <p:nvPr/>
        </p:nvSpPr>
        <p:spPr>
          <a:xfrm>
            <a:off x="646772" y="108000"/>
            <a:ext cx="1118185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3600" b="0" i="0" u="none" strike="noStrike" kern="1200" cap="none" spc="12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Exo 2 italic"/>
                <a:ea typeface="Fira Sans" panose="020B0503050000020004" pitchFamily="34" charset="0"/>
                <a:cs typeface="+mn-cs"/>
              </a:rPr>
              <a:t>Superba Krill: The Natural C</a:t>
            </a:r>
            <a:r>
              <a:rPr kumimoji="0" lang="en-AU" sz="3600" b="0" i="0" u="none" strike="noStrike" kern="1200" cap="none" spc="12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Exo 2 italic"/>
                <a:ea typeface="Fira Sans" panose="020B0503050000020004" pitchFamily="34" charset="0"/>
                <a:cs typeface="+mn-cs"/>
              </a:rPr>
              <a:t>ombination</a:t>
            </a:r>
            <a:r>
              <a:rPr kumimoji="0" lang="en-AU" sz="3600" b="0" i="0" u="none" strike="noStrike" kern="1200" cap="none" spc="12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Exo 2 italic"/>
                <a:ea typeface="Fira Sans" panose="020B0503050000020004" pitchFamily="34" charset="0"/>
                <a:cs typeface="+mn-cs"/>
              </a:rPr>
              <a:t> of Key C</a:t>
            </a:r>
            <a:r>
              <a:rPr kumimoji="0" lang="en-AU" sz="3600" b="0" i="0" u="none" strike="noStrike" kern="1200" cap="none" spc="12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Exo 2 italic"/>
                <a:ea typeface="Fira Sans" panose="020B0503050000020004" pitchFamily="34" charset="0"/>
                <a:cs typeface="+mn-cs"/>
              </a:rPr>
              <a:t>ellular</a:t>
            </a:r>
            <a:r>
              <a:rPr kumimoji="0" lang="en-AU" sz="3600" b="0" i="0" u="none" strike="noStrike" kern="1200" cap="none" spc="12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Exo 2 italic"/>
                <a:ea typeface="Fira Sans" panose="020B0503050000020004" pitchFamily="34" charset="0"/>
                <a:cs typeface="+mn-cs"/>
              </a:rPr>
              <a:t> Nutrients in Optimal F</a:t>
            </a:r>
            <a:r>
              <a:rPr kumimoji="0" lang="en-AU" sz="3600" b="0" i="0" u="none" strike="noStrike" kern="1200" cap="none" spc="12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Exo 2 italic"/>
                <a:ea typeface="Fira Sans" panose="020B0503050000020004" pitchFamily="34" charset="0"/>
                <a:cs typeface="+mn-cs"/>
              </a:rPr>
              <a:t>orm</a:t>
            </a:r>
            <a:endParaRPr kumimoji="0" lang="en-AU" sz="3600" b="0" i="0" u="none" strike="noStrike" kern="1200" cap="none" spc="12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Exo 2 italic"/>
              <a:ea typeface="Fira Sans" panose="020B0503050000020004" pitchFamily="34" charset="0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B3938E7-F6B2-75BA-4141-2BDDC2DA28C9}"/>
              </a:ext>
            </a:extLst>
          </p:cNvPr>
          <p:cNvSpPr txBox="1"/>
          <p:nvPr/>
        </p:nvSpPr>
        <p:spPr>
          <a:xfrm>
            <a:off x="2018017" y="2192454"/>
            <a:ext cx="229803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3462">
                    <a:lumMod val="10000"/>
                    <a:lumOff val="90000"/>
                  </a:srgbClr>
                </a:solidFill>
                <a:effectLst/>
                <a:uLnTx/>
                <a:uFillTx/>
                <a:latin typeface="Exo 2" pitchFamily="2" charset="77"/>
                <a:ea typeface="+mn-ea"/>
                <a:cs typeface="+mn-cs"/>
              </a:rPr>
              <a:t>PHOSPHOLIPIDS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3462"/>
              </a:solidFill>
              <a:effectLst/>
              <a:uLnTx/>
              <a:uFillTx/>
              <a:latin typeface="Manrope"/>
              <a:ea typeface="+mn-ea"/>
              <a:cs typeface="+mn-cs"/>
            </a:endParaRPr>
          </a:p>
        </p:txBody>
      </p:sp>
      <p:sp>
        <p:nvSpPr>
          <p:cNvPr id="22" name="TekstSylinder 18">
            <a:extLst>
              <a:ext uri="{FF2B5EF4-FFF2-40B4-BE49-F238E27FC236}">
                <a16:creationId xmlns:a16="http://schemas.microsoft.com/office/drawing/2014/main" id="{653CBB97-C1A9-73A9-ABAF-33AE6B7A602C}"/>
              </a:ext>
            </a:extLst>
          </p:cNvPr>
          <p:cNvSpPr txBox="1"/>
          <p:nvPr/>
        </p:nvSpPr>
        <p:spPr>
          <a:xfrm>
            <a:off x="4195668" y="4725868"/>
            <a:ext cx="4044950" cy="5877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400" b="0" i="1" u="none" strike="noStrike" kern="1200" cap="none" spc="12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Exo 2 italic"/>
                <a:ea typeface="Fira Sans" panose="020B0503050000020004" pitchFamily="34" charset="0"/>
                <a:cs typeface="+mn-cs"/>
              </a:rPr>
              <a:t>Pure, Natural and Clean</a:t>
            </a:r>
          </a:p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100" b="1" i="0" u="none" strike="noStrike" kern="1200" cap="none" spc="120" normalizeH="0" baseline="0" noProof="0" dirty="0">
              <a:ln>
                <a:noFill/>
              </a:ln>
              <a:solidFill>
                <a:srgbClr val="0070CE"/>
              </a:solidFill>
              <a:effectLst/>
              <a:uLnTx/>
              <a:uFillTx/>
              <a:latin typeface="Trebuchet MS" panose="020B0703020202090204" pitchFamily="34" charset="0"/>
              <a:ea typeface="Fira Sans" panose="020B0503050000020004" pitchFamily="34" charset="0"/>
              <a:cs typeface="+mn-cs"/>
            </a:endParaRPr>
          </a:p>
        </p:txBody>
      </p:sp>
      <p:pic>
        <p:nvPicPr>
          <p:cNvPr id="28" name="Picture 27" descr="A red oval object on a black background&#10;&#10;Description automatically generated">
            <a:extLst>
              <a:ext uri="{FF2B5EF4-FFF2-40B4-BE49-F238E27FC236}">
                <a16:creationId xmlns:a16="http://schemas.microsoft.com/office/drawing/2014/main" id="{2A6644AF-B33E-EF6D-A4C2-2C3A70B7BE61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876800" y="2445319"/>
            <a:ext cx="2438400" cy="177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67C7AD8-891C-5FAF-4D04-E71B8BF9DD47}"/>
              </a:ext>
            </a:extLst>
          </p:cNvPr>
          <p:cNvSpPr txBox="1"/>
          <p:nvPr/>
        </p:nvSpPr>
        <p:spPr>
          <a:xfrm>
            <a:off x="8153234" y="2192454"/>
            <a:ext cx="169180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3462">
                    <a:lumMod val="10000"/>
                    <a:lumOff val="90000"/>
                  </a:srgbClr>
                </a:solidFill>
                <a:effectLst/>
                <a:uLnTx/>
                <a:uFillTx/>
                <a:latin typeface="Exo 2" pitchFamily="2" charset="77"/>
                <a:ea typeface="+mn-ea"/>
                <a:cs typeface="+mn-cs"/>
              </a:rPr>
              <a:t>CHOLINE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3462"/>
              </a:solidFill>
              <a:effectLst/>
              <a:uLnTx/>
              <a:uFillTx/>
              <a:latin typeface="Manrope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CEC4C3D-437F-A264-6917-A91DB21C7BFF}"/>
              </a:ext>
            </a:extLst>
          </p:cNvPr>
          <p:cNvSpPr txBox="1"/>
          <p:nvPr/>
        </p:nvSpPr>
        <p:spPr>
          <a:xfrm>
            <a:off x="8203569" y="4106340"/>
            <a:ext cx="223621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3462">
                    <a:lumMod val="10000"/>
                    <a:lumOff val="90000"/>
                  </a:srgbClr>
                </a:solidFill>
                <a:effectLst/>
                <a:uLnTx/>
                <a:uFillTx/>
                <a:latin typeface="Exo 2" pitchFamily="2" charset="77"/>
                <a:ea typeface="+mn-ea"/>
                <a:cs typeface="+mn-cs"/>
              </a:rPr>
              <a:t>ASTAXANTHIN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67FDFA4-2E24-A55E-2F1A-673A9833A98A}"/>
              </a:ext>
            </a:extLst>
          </p:cNvPr>
          <p:cNvSpPr txBox="1"/>
          <p:nvPr/>
        </p:nvSpPr>
        <p:spPr>
          <a:xfrm>
            <a:off x="1635124" y="4106340"/>
            <a:ext cx="289125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3462">
                    <a:lumMod val="10000"/>
                    <a:lumOff val="90000"/>
                  </a:srgbClr>
                </a:solidFill>
                <a:effectLst/>
                <a:uLnTx/>
                <a:uFillTx/>
                <a:latin typeface="Exo 2" pitchFamily="2" charset="77"/>
                <a:ea typeface="+mn-ea"/>
                <a:cs typeface="+mn-cs"/>
              </a:rPr>
              <a:t>OMEGA-3 EPA/DHA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3462"/>
              </a:solidFill>
              <a:effectLst/>
              <a:uLnTx/>
              <a:uFillTx/>
              <a:latin typeface="Manrope"/>
              <a:ea typeface="+mn-ea"/>
              <a:cs typeface="+mn-cs"/>
            </a:endParaRPr>
          </a:p>
        </p:txBody>
      </p:sp>
      <p:pic>
        <p:nvPicPr>
          <p:cNvPr id="8" name="Picture 7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2F8FE8D9-FCCB-DBAF-6B4E-53800140FB20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8624" y="6343472"/>
            <a:ext cx="1796084" cy="2988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0F84DDF-BF2D-A588-DE9E-D4A553B85632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39788" y="6421418"/>
            <a:ext cx="1319777" cy="163940"/>
          </a:xfrm>
          <a:prstGeom prst="rect">
            <a:avLst/>
          </a:prstGeom>
        </p:spPr>
      </p:pic>
      <p:cxnSp>
        <p:nvCxnSpPr>
          <p:cNvPr id="13" name="Elbow Connector 47">
            <a:extLst>
              <a:ext uri="{FF2B5EF4-FFF2-40B4-BE49-F238E27FC236}">
                <a16:creationId xmlns:a16="http://schemas.microsoft.com/office/drawing/2014/main" id="{455427F0-55AF-1B87-61C8-0A016CF64003}"/>
              </a:ext>
            </a:extLst>
          </p:cNvPr>
          <p:cNvCxnSpPr>
            <a:cxnSpLocks noChangeAspect="1"/>
          </p:cNvCxnSpPr>
          <p:nvPr/>
        </p:nvCxnSpPr>
        <p:spPr>
          <a:xfrm>
            <a:off x="4116710" y="2388445"/>
            <a:ext cx="967796" cy="684000"/>
          </a:xfrm>
          <a:prstGeom prst="bentConnector3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Elbow Connector 48">
            <a:extLst>
              <a:ext uri="{FF2B5EF4-FFF2-40B4-BE49-F238E27FC236}">
                <a16:creationId xmlns:a16="http://schemas.microsoft.com/office/drawing/2014/main" id="{A57CA64E-D7C6-77F4-6C2C-6466C80677F2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4114470" y="3622395"/>
            <a:ext cx="970036" cy="684000"/>
          </a:xfrm>
          <a:prstGeom prst="bentConnector3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Elbow Connector 50">
            <a:extLst>
              <a:ext uri="{FF2B5EF4-FFF2-40B4-BE49-F238E27FC236}">
                <a16:creationId xmlns:a16="http://schemas.microsoft.com/office/drawing/2014/main" id="{53510F4B-FC1D-877E-E913-89EA4DE68AA4}"/>
              </a:ext>
            </a:extLst>
          </p:cNvPr>
          <p:cNvCxnSpPr>
            <a:cxnSpLocks noChangeAspect="1"/>
          </p:cNvCxnSpPr>
          <p:nvPr/>
        </p:nvCxnSpPr>
        <p:spPr>
          <a:xfrm flipH="1">
            <a:off x="7183199" y="2388445"/>
            <a:ext cx="970036" cy="684000"/>
          </a:xfrm>
          <a:prstGeom prst="bentConnector3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Elbow Connector 51">
            <a:extLst>
              <a:ext uri="{FF2B5EF4-FFF2-40B4-BE49-F238E27FC236}">
                <a16:creationId xmlns:a16="http://schemas.microsoft.com/office/drawing/2014/main" id="{9A19FEB7-43D4-3B03-0321-F3A62C3DAEC0}"/>
              </a:ext>
            </a:extLst>
          </p:cNvPr>
          <p:cNvCxnSpPr>
            <a:cxnSpLocks noChangeAspect="1"/>
          </p:cNvCxnSpPr>
          <p:nvPr/>
        </p:nvCxnSpPr>
        <p:spPr>
          <a:xfrm flipH="1" flipV="1">
            <a:off x="7183199" y="3625290"/>
            <a:ext cx="970036" cy="684000"/>
          </a:xfrm>
          <a:prstGeom prst="bentConnector3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DAB9E9CC-EB7F-3388-D99A-71ABBC47C088}"/>
              </a:ext>
            </a:extLst>
          </p:cNvPr>
          <p:cNvSpPr txBox="1"/>
          <p:nvPr/>
        </p:nvSpPr>
        <p:spPr>
          <a:xfrm>
            <a:off x="2018017" y="2556591"/>
            <a:ext cx="250836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nrope"/>
                <a:ea typeface="+mn-ea"/>
                <a:cs typeface="Arial"/>
                <a:sym typeface="Arial"/>
              </a:rPr>
              <a:t>The key advantage of krill oil is the phospholipids, which are the exact form the body needs to </a:t>
            </a: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75C2C5"/>
                </a:solidFill>
                <a:effectLst/>
                <a:uLnTx/>
                <a:uFillTx/>
                <a:latin typeface="Manrope"/>
                <a:ea typeface="+mn-ea"/>
                <a:cs typeface="Arial"/>
                <a:sym typeface="Arial"/>
              </a:rPr>
              <a:t>better absorb and deliver</a:t>
            </a: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nrope"/>
                <a:ea typeface="+mn-ea"/>
                <a:cs typeface="Arial"/>
                <a:sym typeface="Arial"/>
              </a:rPr>
              <a:t> the omega-3 and choline benefits throughout the body.</a:t>
            </a:r>
            <a:endParaRPr kumimoji="0" lang="nb-NO" sz="1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anrope"/>
              <a:ea typeface="+mn-ea"/>
              <a:cs typeface="Calibri" panose="020F0502020204030204" pitchFamily="34" charset="0"/>
              <a:sym typeface="Arial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10A0FA9-8BAD-F90B-DEA2-54835AED0DE3}"/>
              </a:ext>
            </a:extLst>
          </p:cNvPr>
          <p:cNvSpPr txBox="1"/>
          <p:nvPr/>
        </p:nvSpPr>
        <p:spPr>
          <a:xfrm>
            <a:off x="1635124" y="4495036"/>
            <a:ext cx="2961814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2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nrope"/>
                <a:ea typeface="+mn-ea"/>
                <a:cs typeface="Calibri" panose="020F0502020204030204" pitchFamily="34" charset="0"/>
                <a:sym typeface="Arial"/>
              </a:rPr>
              <a:t>Krill oil supplies omega-3 EPA/DHA, which is an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nrope"/>
                <a:ea typeface="+mn-ea"/>
                <a:cs typeface="Calibri" panose="020F0502020204030204" pitchFamily="34" charset="0"/>
                <a:sym typeface="Arial"/>
              </a:rPr>
              <a:t> 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75C2C5"/>
                </a:solidFill>
                <a:effectLst/>
                <a:uLnTx/>
                <a:uFillTx/>
                <a:latin typeface="Manrope"/>
                <a:ea typeface="+mn-ea"/>
                <a:cs typeface="Calibri" panose="020F0502020204030204" pitchFamily="34" charset="0"/>
                <a:sym typeface="Arial"/>
              </a:rPr>
              <a:t>important nutrient that 4 in 5 people don’t get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nrope"/>
                <a:ea typeface="+mn-ea"/>
                <a:cs typeface="Calibri" panose="020F0502020204030204" pitchFamily="34" charset="0"/>
                <a:sym typeface="Arial"/>
              </a:rPr>
              <a:t>enough of in their diet. It helps support many aspects of health including heart, brain, joint, immunity, women’s health, and sports performance.* 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71F2D51-AB28-38F3-8FC9-047629984EFD}"/>
              </a:ext>
            </a:extLst>
          </p:cNvPr>
          <p:cNvSpPr txBox="1"/>
          <p:nvPr/>
        </p:nvSpPr>
        <p:spPr>
          <a:xfrm>
            <a:off x="7875951" y="2553872"/>
            <a:ext cx="344398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2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nrope"/>
                <a:ea typeface="+mn-ea"/>
                <a:cs typeface="Calibri" panose="020F0502020204030204" pitchFamily="34" charset="0"/>
                <a:sym typeface="Arial"/>
              </a:rPr>
              <a:t>Krill oil contains choline, which </a:t>
            </a: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nrope"/>
                <a:ea typeface="+mn-ea"/>
                <a:cs typeface="Arial"/>
                <a:sym typeface="Arial"/>
              </a:rPr>
              <a:t>is an </a:t>
            </a:r>
            <a:r>
              <a:rPr kumimoji="0" lang="en-US" sz="1200" b="1" i="0" u="none" strike="noStrike" kern="0" cap="none" spc="0" normalizeH="0" baseline="0" noProof="0">
                <a:ln>
                  <a:noFill/>
                </a:ln>
                <a:solidFill>
                  <a:srgbClr val="75C2C5"/>
                </a:solidFill>
                <a:effectLst/>
                <a:uLnTx/>
                <a:uFillTx/>
                <a:latin typeface="Manrope"/>
                <a:ea typeface="+mn-ea"/>
                <a:cs typeface="Arial"/>
                <a:sym typeface="Arial"/>
              </a:rPr>
              <a:t>essential nutrient that 9 in 10 people don’t get </a:t>
            </a: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nrope"/>
                <a:ea typeface="+mn-ea"/>
                <a:cs typeface="Arial"/>
                <a:sym typeface="Arial"/>
              </a:rPr>
              <a:t>enough of in their diet. It helps regulate memory, mood, muscle control, and other important functions.*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anrope"/>
              <a:ea typeface="+mn-ea"/>
              <a:cs typeface="Calibri" panose="020F0502020204030204" pitchFamily="34" charset="0"/>
              <a:sym typeface="Arial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20B9D44-8F7B-53B1-E2B5-A0E181E39A03}"/>
              </a:ext>
            </a:extLst>
          </p:cNvPr>
          <p:cNvSpPr txBox="1"/>
          <p:nvPr/>
        </p:nvSpPr>
        <p:spPr>
          <a:xfrm>
            <a:off x="7891748" y="4495036"/>
            <a:ext cx="393687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nrope"/>
                <a:ea typeface="+mn-ea"/>
                <a:cs typeface="Calibri" panose="020F0502020204030204" pitchFamily="34" charset="0"/>
                <a:sym typeface="Arial"/>
              </a:rPr>
              <a:t>Krill oil contains astaxanthin, which </a:t>
            </a: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75C2C5"/>
                </a:solidFill>
                <a:effectLst/>
                <a:uLnTx/>
                <a:uFillTx/>
                <a:latin typeface="Manrope"/>
                <a:ea typeface="+mn-ea"/>
                <a:cs typeface="Calibri" panose="020F0502020204030204" pitchFamily="34" charset="0"/>
                <a:sym typeface="Arial"/>
              </a:rPr>
              <a:t>protects krill oil from oxidation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75C2C5"/>
                </a:solidFill>
                <a:effectLst/>
                <a:uLnTx/>
                <a:uFillTx/>
                <a:latin typeface="Manrope"/>
                <a:ea typeface="+mn-ea"/>
                <a:cs typeface="Calibri" panose="020F0502020204030204" pitchFamily="34" charset="0"/>
                <a:sym typeface="Arial"/>
              </a:rPr>
              <a:t>, 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nrope"/>
                <a:ea typeface="+mn-ea"/>
                <a:cs typeface="Calibri" panose="020F0502020204030204" pitchFamily="34" charset="0"/>
                <a:sym typeface="Arial"/>
              </a:rPr>
              <a:t>eliminating the need to add preservatives, additives.*</a:t>
            </a:r>
            <a:endParaRPr kumimoji="0" lang="nb-NO" sz="1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anrope"/>
              <a:ea typeface="+mn-ea"/>
              <a:cs typeface="Calibri" panose="020F0502020204030204" pitchFamily="34" charset="0"/>
              <a:sym typeface="Arial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63546FA-FEB8-4C19-C886-61A13C90BFA2}"/>
              </a:ext>
            </a:extLst>
          </p:cNvPr>
          <p:cNvSpPr txBox="1"/>
          <p:nvPr/>
        </p:nvSpPr>
        <p:spPr>
          <a:xfrm>
            <a:off x="2192927" y="6335043"/>
            <a:ext cx="60970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nrope"/>
                <a:ea typeface="+mn-ea"/>
                <a:cs typeface="Arial"/>
                <a:sym typeface="Arial"/>
              </a:rPr>
              <a:t>FISH CONSUMPTION STAT: </a:t>
            </a: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nrope"/>
                <a:ea typeface="+mn-ea"/>
                <a:cs typeface="Arial"/>
                <a:sym typeface="Arial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https://www.cdc.gov/nchs/products/databriefs/db321.htm</a:t>
            </a: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nrope"/>
                <a:ea typeface="+mn-ea"/>
                <a:cs typeface="Arial"/>
                <a:sym typeface="Arial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nrope"/>
                <a:ea typeface="+mn-ea"/>
                <a:cs typeface="Arial"/>
                <a:sym typeface="Arial"/>
              </a:rPr>
              <a:t>CHOLINE CONSUMPTION STAT:</a:t>
            </a: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nrope"/>
                <a:ea typeface="+mn-ea"/>
                <a:cs typeface="Arial"/>
                <a:sym typeface="Arial"/>
              </a:rPr>
              <a:t> </a:t>
            </a: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nrope"/>
                <a:ea typeface="+mn-ea"/>
                <a:cs typeface="Arial"/>
                <a:sym typeface="Arial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https://pubmed.ncbi.nlm.nih.gov/26886842/</a:t>
            </a: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nrope"/>
                <a:ea typeface="+mn-ea"/>
                <a:cs typeface="Arial"/>
                <a:sym typeface="Arial"/>
              </a:rPr>
              <a:t>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22CE23C-0B0E-999C-65F9-49D1325970D9}"/>
              </a:ext>
            </a:extLst>
          </p:cNvPr>
          <p:cNvSpPr txBox="1"/>
          <p:nvPr/>
        </p:nvSpPr>
        <p:spPr>
          <a:xfrm>
            <a:off x="4766474" y="1607199"/>
            <a:ext cx="279144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srgbClr val="E9F7F8"/>
                </a:solidFill>
                <a:effectLst/>
                <a:uLnTx/>
                <a:uFillTx/>
                <a:latin typeface="Exo 2 italic"/>
                <a:ea typeface="+mn-ea"/>
                <a:cs typeface="+mn-cs"/>
              </a:rPr>
              <a:t>Natural multi-nutrient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srgbClr val="E9F7F8"/>
                </a:solidFill>
                <a:effectLst/>
                <a:uLnTx/>
                <a:uFillTx/>
                <a:latin typeface="Exo 2 italic"/>
                <a:ea typeface="+mn-ea"/>
                <a:cs typeface="+mn-cs"/>
              </a:rPr>
              <a:t>Providing the highest levels of essential nutrients</a:t>
            </a:r>
            <a:endParaRPr kumimoji="0" lang="nb-NO" sz="1400" b="0" i="1" u="none" strike="noStrike" kern="1200" cap="none" spc="0" normalizeH="0" baseline="0" noProof="0" dirty="0">
              <a:ln>
                <a:noFill/>
              </a:ln>
              <a:solidFill>
                <a:srgbClr val="E9F7F8"/>
              </a:solidFill>
              <a:effectLst/>
              <a:uLnTx/>
              <a:uFillTx/>
              <a:latin typeface="Exo 2 italic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